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C27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777240" y="3200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100" b="1">
                <a:solidFill>
                  <a:srgbClr val="F7F4E9"/>
                </a:solidFill>
                <a:latin typeface="Arial"/>
              </a:rPr>
              <a:t>HUMAN FRAME ROBOTICS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9235440" y="32004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/>
            <a:r>
              <a:rPr lang="en-US" sz="1100" b="1">
                <a:solidFill>
                  <a:srgbClr val="F7F4E9"/>
                </a:solidFill>
                <a:latin typeface="Arial"/>
              </a:rPr>
              <a:t>VISION DECK · 2026</a:t>
            </a:r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777240" y="6455664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000" b="0">
                <a:solidFill>
                  <a:srgbClr val="BBD1C6"/>
                </a:solidFill>
                <a:latin typeface="Arial"/>
              </a:rPr>
              <a:t>Human Frame Robotics</a:t>
            </a:r>
            <a:endParaRPr lang="en-US"/>
          </a:p>
        </p:txBody>
      </p:sp>
      <p:sp>
        <p:nvSpPr>
          <p:cNvPr id="6" name="Text 6"/>
          <p:cNvSpPr txBox="1"/>
          <p:nvPr/>
        </p:nvSpPr>
        <p:spPr>
          <a:xfrm>
            <a:off x="10607040" y="6455664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000" b="1">
                <a:solidFill>
                  <a:srgbClr val="BBD1C6"/>
                </a:solidFill>
                <a:latin typeface="Arial"/>
              </a:rPr>
              <a:t>01 / 09</a:t>
            </a:r>
            <a:endParaRPr lang="en-US"/>
          </a:p>
        </p:txBody>
      </p:sp>
      <p:sp>
        <p:nvSpPr>
          <p:cNvPr id="7" name="Text 7"/>
          <p:cNvSpPr txBox="1"/>
          <p:nvPr/>
        </p:nvSpPr>
        <p:spPr>
          <a:xfrm>
            <a:off x="777240" y="138988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400" b="1">
                <a:solidFill>
                  <a:srgbClr val="C7E77B"/>
                </a:solidFill>
                <a:latin typeface="Arial"/>
              </a:rPr>
              <a:t>A PLATFORM FOR HUMAN–ROBOT INTERACTION</a:t>
            </a:r>
            <a:endParaRPr lang="en-US"/>
          </a:p>
        </p:txBody>
      </p:sp>
      <p:sp>
        <p:nvSpPr>
          <p:cNvPr id="8" name="Text 8"/>
          <p:cNvSpPr txBox="1"/>
          <p:nvPr/>
        </p:nvSpPr>
        <p:spPr>
          <a:xfrm>
            <a:off x="777240" y="1847088"/>
            <a:ext cx="9875520" cy="1600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6400" b="1">
                <a:solidFill>
                  <a:srgbClr val="F7F4E9"/>
                </a:solidFill>
                <a:latin typeface="Arial"/>
              </a:rPr>
              <a:t>The human</a:t>
            </a:r>
            <a:endParaRPr lang="en-US"/>
          </a:p>
          <a:p>
            <a:pPr algn="l"/>
            <a:r>
              <a:rPr lang="en-US" sz="6400" b="1">
                <a:solidFill>
                  <a:srgbClr val="F7F4E9"/>
                </a:solidFill>
                <a:latin typeface="Arial"/>
              </a:rPr>
              <a:t>framework.</a:t>
            </a:r>
            <a:endParaRPr lang="en-US"/>
          </a:p>
        </p:txBody>
      </p:sp>
      <p:sp>
        <p:nvSpPr>
          <p:cNvPr id="9" name="Text 9"/>
          <p:cNvSpPr txBox="1"/>
          <p:nvPr/>
        </p:nvSpPr>
        <p:spPr>
          <a:xfrm>
            <a:off x="777240" y="3840480"/>
            <a:ext cx="987552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2700" b="0">
                <a:solidFill>
                  <a:srgbClr val="F7F4E9"/>
                </a:solidFill>
                <a:latin typeface="Arial"/>
              </a:rPr>
              <a:t>Making useful, approachable robots more affordable to build—and to live with.</a:t>
            </a:r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777240" y="5175504"/>
            <a:ext cx="2880360" cy="457200"/>
          </a:xfrm>
          <a:prstGeom prst="roundRect">
            <a:avLst/>
          </a:prstGeom>
          <a:solidFill>
            <a:srgbClr val="C7E77B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1005840" y="5239512"/>
            <a:ext cx="251460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500" b="1">
                <a:solidFill>
                  <a:srgbClr val="102C27"/>
                </a:solidFill>
                <a:latin typeface="Arial"/>
              </a:rPr>
              <a:t>Consumers + developers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8EFDF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777240" y="3200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100" b="1">
                <a:solidFill>
                  <a:srgbClr val="102C27"/>
                </a:solidFill>
                <a:latin typeface="Arial"/>
              </a:rPr>
              <a:t>HUMAN FRAME ROBOTICS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9235440" y="32004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/>
            <a:r>
              <a:rPr lang="en-US" sz="1100" b="1">
                <a:solidFill>
                  <a:srgbClr val="102C27"/>
                </a:solidFill>
                <a:latin typeface="Arial"/>
              </a:rPr>
              <a:t>VISION</a:t>
            </a:r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777240" y="6455664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000" b="0">
                <a:solidFill>
                  <a:srgbClr val="526E63"/>
                </a:solidFill>
                <a:latin typeface="Arial"/>
              </a:rPr>
              <a:t>Human Frame Robotics</a:t>
            </a:r>
            <a:endParaRPr lang="en-US"/>
          </a:p>
        </p:txBody>
      </p:sp>
      <p:sp>
        <p:nvSpPr>
          <p:cNvPr id="6" name="Text 6"/>
          <p:cNvSpPr txBox="1"/>
          <p:nvPr/>
        </p:nvSpPr>
        <p:spPr>
          <a:xfrm>
            <a:off x="10607040" y="6455664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000" b="1">
                <a:solidFill>
                  <a:srgbClr val="526E63"/>
                </a:solidFill>
                <a:latin typeface="Arial"/>
              </a:rPr>
              <a:t>02 / 09</a:t>
            </a:r>
            <a:endParaRPr lang="en-US"/>
          </a:p>
        </p:txBody>
      </p:sp>
      <p:sp>
        <p:nvSpPr>
          <p:cNvPr id="7" name="Text 7"/>
          <p:cNvSpPr txBox="1"/>
          <p:nvPr/>
        </p:nvSpPr>
        <p:spPr>
          <a:xfrm>
            <a:off x="777240" y="1078992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300" b="1">
                <a:solidFill>
                  <a:srgbClr val="174C3D"/>
                </a:solidFill>
                <a:latin typeface="Arial"/>
              </a:rPr>
              <a:t>OUR NORTH STAR</a:t>
            </a:r>
            <a:endParaRPr lang="en-US"/>
          </a:p>
        </p:txBody>
      </p:sp>
      <p:sp>
        <p:nvSpPr>
          <p:cNvPr id="8" name="Text 8"/>
          <p:cNvSpPr txBox="1"/>
          <p:nvPr/>
        </p:nvSpPr>
        <p:spPr>
          <a:xfrm>
            <a:off x="777240" y="1463039"/>
            <a:ext cx="1065276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4300" b="1">
                <a:solidFill>
                  <a:srgbClr val="102C27"/>
                </a:solidFill>
                <a:latin typeface="Arial"/>
              </a:rPr>
              <a:t>Human–robot interaction</a:t>
            </a:r>
            <a:endParaRPr lang="en-US"/>
          </a:p>
          <a:p>
            <a:pPr algn="l"/>
            <a:r>
              <a:rPr lang="en-US" sz="4300" b="1">
                <a:solidFill>
                  <a:srgbClr val="102C27"/>
                </a:solidFill>
                <a:latin typeface="Arial"/>
              </a:rPr>
              <a:t>for more people.</a:t>
            </a:r>
            <a:endParaRPr lang="en-US"/>
          </a:p>
        </p:txBody>
      </p:sp>
      <p:sp>
        <p:nvSpPr>
          <p:cNvPr id="9" name="Text 9"/>
          <p:cNvSpPr txBox="1"/>
          <p:nvPr/>
        </p:nvSpPr>
        <p:spPr>
          <a:xfrm>
            <a:off x="777240" y="3246120"/>
            <a:ext cx="978408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2800" b="0">
                <a:solidFill>
                  <a:srgbClr val="174C3D"/>
                </a:solidFill>
                <a:latin typeface="Arial"/>
              </a:rPr>
              <a:t>Provide consumers and developers with an affordable platform and framework for human–robot interaction.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9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777240" y="3200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100" b="1">
                <a:solidFill>
                  <a:srgbClr val="102C27"/>
                </a:solidFill>
                <a:latin typeface="Arial"/>
              </a:rPr>
              <a:t>HUMAN FRAME ROBOTICS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9235440" y="32004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/>
            <a:r>
              <a:rPr lang="en-US" sz="1100" b="1">
                <a:solidFill>
                  <a:srgbClr val="102C27"/>
                </a:solidFill>
                <a:latin typeface="Arial"/>
              </a:rPr>
              <a:t>PROBLEM</a:t>
            </a:r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777240" y="6455664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000" b="0">
                <a:solidFill>
                  <a:srgbClr val="526E63"/>
                </a:solidFill>
                <a:latin typeface="Arial"/>
              </a:rPr>
              <a:t>Human Frame Robotics</a:t>
            </a:r>
            <a:endParaRPr lang="en-US"/>
          </a:p>
        </p:txBody>
      </p:sp>
      <p:sp>
        <p:nvSpPr>
          <p:cNvPr id="6" name="Text 6"/>
          <p:cNvSpPr txBox="1"/>
          <p:nvPr/>
        </p:nvSpPr>
        <p:spPr>
          <a:xfrm>
            <a:off x="10607040" y="6455664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000" b="1">
                <a:solidFill>
                  <a:srgbClr val="526E63"/>
                </a:solidFill>
                <a:latin typeface="Arial"/>
              </a:rPr>
              <a:t>03 / 09</a:t>
            </a:r>
            <a:endParaRPr lang="en-US"/>
          </a:p>
        </p:txBody>
      </p:sp>
      <p:sp>
        <p:nvSpPr>
          <p:cNvPr id="7" name="Text 7"/>
          <p:cNvSpPr txBox="1"/>
          <p:nvPr/>
        </p:nvSpPr>
        <p:spPr>
          <a:xfrm>
            <a:off x="777240" y="1078992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300" b="1">
                <a:solidFill>
                  <a:srgbClr val="174C3D"/>
                </a:solidFill>
                <a:latin typeface="Arial"/>
              </a:rPr>
              <a:t>TWO UNMET NEEDS</a:t>
            </a:r>
            <a:endParaRPr lang="en-US"/>
          </a:p>
        </p:txBody>
      </p:sp>
      <p:sp>
        <p:nvSpPr>
          <p:cNvPr id="8" name="Text 8"/>
          <p:cNvSpPr txBox="1"/>
          <p:nvPr/>
        </p:nvSpPr>
        <p:spPr>
          <a:xfrm>
            <a:off x="777240" y="1463039"/>
            <a:ext cx="1065276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4100" b="1">
                <a:solidFill>
                  <a:srgbClr val="102C27"/>
                </a:solidFill>
                <a:latin typeface="Arial"/>
              </a:rPr>
              <a:t>People want companions.</a:t>
            </a:r>
            <a:endParaRPr lang="en-US"/>
          </a:p>
          <a:p>
            <a:pPr algn="l"/>
            <a:r>
              <a:rPr lang="en-US" sz="4100" b="1">
                <a:solidFill>
                  <a:srgbClr val="102C27"/>
                </a:solidFill>
                <a:latin typeface="Arial"/>
              </a:rPr>
              <a:t>Builders need a foundation.</a:t>
            </a:r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777240" y="3502152"/>
            <a:ext cx="52120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987552" y="3666744"/>
            <a:ext cx="479145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100" b="1">
                <a:solidFill>
                  <a:srgbClr val="174C3D"/>
                </a:solidFill>
                <a:latin typeface="Arial"/>
              </a:rPr>
              <a:t>CONSUMER PROBLEM</a:t>
            </a:r>
            <a:endParaRPr lang="en-US"/>
          </a:p>
        </p:txBody>
      </p:sp>
      <p:sp>
        <p:nvSpPr>
          <p:cNvPr id="11" name="Text 11"/>
          <p:cNvSpPr txBox="1"/>
          <p:nvPr/>
        </p:nvSpPr>
        <p:spPr>
          <a:xfrm>
            <a:off x="987552" y="3977639"/>
            <a:ext cx="4791456" cy="6035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2200" b="1">
                <a:solidFill>
                  <a:srgbClr val="102C27"/>
                </a:solidFill>
                <a:latin typeface="Arial"/>
              </a:rPr>
              <a:t>Affordable companion</a:t>
            </a:r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987552" y="4645152"/>
            <a:ext cx="4791456" cy="98755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500" b="0">
                <a:solidFill>
                  <a:srgbClr val="102C27"/>
                </a:solidFill>
                <a:latin typeface="Arial"/>
              </a:rPr>
              <a:t>Today’s options can be expensive, limited, or difficult to personalize for everyday life.</a:t>
            </a:r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6199632" y="3502152"/>
            <a:ext cx="52120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6409944" y="3666744"/>
            <a:ext cx="479145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100" b="1">
                <a:solidFill>
                  <a:srgbClr val="174C3D"/>
                </a:solidFill>
                <a:latin typeface="Arial"/>
              </a:rPr>
              <a:t>DEVELOPER PROBLEM</a:t>
            </a:r>
            <a:endParaRPr lang="en-US"/>
          </a:p>
        </p:txBody>
      </p:sp>
      <p:sp>
        <p:nvSpPr>
          <p:cNvPr id="15" name="Text 15"/>
          <p:cNvSpPr txBox="1"/>
          <p:nvPr/>
        </p:nvSpPr>
        <p:spPr>
          <a:xfrm>
            <a:off x="6409944" y="3977639"/>
            <a:ext cx="4791456" cy="6035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2200" b="1">
                <a:solidFill>
                  <a:srgbClr val="102C27"/>
                </a:solidFill>
                <a:latin typeface="Arial"/>
              </a:rPr>
              <a:t>Platform for HCI software</a:t>
            </a:r>
            <a:endParaRPr lang="en-US"/>
          </a:p>
        </p:txBody>
      </p:sp>
      <p:sp>
        <p:nvSpPr>
          <p:cNvPr id="16" name="Text 16"/>
          <p:cNvSpPr txBox="1"/>
          <p:nvPr/>
        </p:nvSpPr>
        <p:spPr>
          <a:xfrm>
            <a:off x="6409944" y="4645152"/>
            <a:ext cx="4791456" cy="98755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500" b="0">
                <a:solidFill>
                  <a:srgbClr val="102C27"/>
                </a:solidFill>
                <a:latin typeface="Arial"/>
              </a:rPr>
              <a:t>Teams repeatedly assemble voice, expression, interaction logic, and hardware integration from scratch.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4C3D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777240" y="3200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100" b="1">
                <a:solidFill>
                  <a:srgbClr val="F7F4E9"/>
                </a:solidFill>
                <a:latin typeface="Arial"/>
              </a:rPr>
              <a:t>HUMAN FRAME ROBOTICS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9235440" y="32004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/>
            <a:r>
              <a:rPr lang="en-US" sz="1100" b="1">
                <a:solidFill>
                  <a:srgbClr val="F7F4E9"/>
                </a:solidFill>
                <a:latin typeface="Arial"/>
              </a:rPr>
              <a:t>MARKET</a:t>
            </a:r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777240" y="6455664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000" b="0">
                <a:solidFill>
                  <a:srgbClr val="BBD1C6"/>
                </a:solidFill>
                <a:latin typeface="Arial"/>
              </a:rPr>
              <a:t>Human Frame Robotics</a:t>
            </a:r>
            <a:endParaRPr lang="en-US"/>
          </a:p>
        </p:txBody>
      </p:sp>
      <p:sp>
        <p:nvSpPr>
          <p:cNvPr id="6" name="Text 6"/>
          <p:cNvSpPr txBox="1"/>
          <p:nvPr/>
        </p:nvSpPr>
        <p:spPr>
          <a:xfrm>
            <a:off x="10607040" y="6455664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000" b="1">
                <a:solidFill>
                  <a:srgbClr val="BBD1C6"/>
                </a:solidFill>
                <a:latin typeface="Arial"/>
              </a:rPr>
              <a:t>04 / 09</a:t>
            </a:r>
            <a:endParaRPr lang="en-US"/>
          </a:p>
        </p:txBody>
      </p:sp>
      <p:sp>
        <p:nvSpPr>
          <p:cNvPr id="7" name="Text 7"/>
          <p:cNvSpPr txBox="1"/>
          <p:nvPr/>
        </p:nvSpPr>
        <p:spPr>
          <a:xfrm>
            <a:off x="777240" y="1078992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300" b="1">
                <a:solidFill>
                  <a:srgbClr val="C7E77B"/>
                </a:solidFill>
                <a:latin typeface="Arial"/>
              </a:rPr>
              <a:t>MARKET SIGNAL</a:t>
            </a:r>
            <a:endParaRPr lang="en-US"/>
          </a:p>
        </p:txBody>
      </p:sp>
      <p:sp>
        <p:nvSpPr>
          <p:cNvPr id="8" name="Text 8"/>
          <p:cNvSpPr txBox="1"/>
          <p:nvPr/>
        </p:nvSpPr>
        <p:spPr>
          <a:xfrm>
            <a:off x="777240" y="1463039"/>
            <a:ext cx="1065276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4200" b="1">
                <a:solidFill>
                  <a:srgbClr val="F7F4E9"/>
                </a:solidFill>
                <a:latin typeface="Arial"/>
              </a:rPr>
              <a:t>Robots are entering homes</a:t>
            </a:r>
            <a:endParaRPr lang="en-US"/>
          </a:p>
          <a:p>
            <a:pPr algn="l"/>
            <a:r>
              <a:rPr lang="en-US" sz="4200" b="1">
                <a:solidFill>
                  <a:srgbClr val="F7F4E9"/>
                </a:solidFill>
                <a:latin typeface="Arial"/>
              </a:rPr>
              <a:t>and everyday spaces.</a:t>
            </a:r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777240" y="3246120"/>
            <a:ext cx="3404616" cy="2103120"/>
          </a:xfrm>
          <a:prstGeom prst="roundRect">
            <a:avLst/>
          </a:prstGeom>
          <a:solidFill>
            <a:srgbClr val="24463D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987552" y="3410712"/>
            <a:ext cx="2983992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100" b="1">
                <a:solidFill>
                  <a:srgbClr val="C7E77B"/>
                </a:solidFill>
                <a:latin typeface="Arial"/>
              </a:rPr>
              <a:t>CONSUMER SERVICE ROBOTS</a:t>
            </a:r>
            <a:endParaRPr lang="en-US"/>
          </a:p>
        </p:txBody>
      </p:sp>
      <p:sp>
        <p:nvSpPr>
          <p:cNvPr id="11" name="Text 11"/>
          <p:cNvSpPr txBox="1"/>
          <p:nvPr/>
        </p:nvSpPr>
        <p:spPr>
          <a:xfrm>
            <a:off x="987552" y="3721608"/>
            <a:ext cx="2983992" cy="6035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2200" b="1">
                <a:solidFill>
                  <a:srgbClr val="F7F4E9"/>
                </a:solidFill>
                <a:latin typeface="Arial"/>
              </a:rPr>
              <a:t>34.2M</a:t>
            </a:r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987552" y="4389120"/>
            <a:ext cx="2983992" cy="804671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500" b="0">
                <a:solidFill>
                  <a:srgbClr val="F7F4E9"/>
                </a:solidFill>
                <a:latin typeface="Arial"/>
              </a:rPr>
              <a:t>Sold worldwide in 2025, up 37% year over year.</a:t>
            </a:r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4392167" y="3246120"/>
            <a:ext cx="3404616" cy="2103120"/>
          </a:xfrm>
          <a:prstGeom prst="roundRect">
            <a:avLst/>
          </a:prstGeom>
          <a:solidFill>
            <a:srgbClr val="24463D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4602480" y="3410712"/>
            <a:ext cx="2983992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100" b="1">
                <a:solidFill>
                  <a:srgbClr val="C7E77B"/>
                </a:solidFill>
                <a:latin typeface="Arial"/>
              </a:rPr>
              <a:t>PROFESSIONAL SERVICE ROBOTS</a:t>
            </a:r>
            <a:endParaRPr lang="en-US"/>
          </a:p>
        </p:txBody>
      </p:sp>
      <p:sp>
        <p:nvSpPr>
          <p:cNvPr id="15" name="Text 15"/>
          <p:cNvSpPr txBox="1"/>
          <p:nvPr/>
        </p:nvSpPr>
        <p:spPr>
          <a:xfrm>
            <a:off x="4602480" y="3721608"/>
            <a:ext cx="2983992" cy="6035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2200" b="1">
                <a:solidFill>
                  <a:srgbClr val="F7F4E9"/>
                </a:solidFill>
                <a:latin typeface="Arial"/>
              </a:rPr>
              <a:t>250K</a:t>
            </a:r>
            <a:endParaRPr lang="en-US"/>
          </a:p>
        </p:txBody>
      </p:sp>
      <p:sp>
        <p:nvSpPr>
          <p:cNvPr id="16" name="Text 16"/>
          <p:cNvSpPr txBox="1"/>
          <p:nvPr/>
        </p:nvSpPr>
        <p:spPr>
          <a:xfrm>
            <a:off x="4602480" y="4389120"/>
            <a:ext cx="2983992" cy="804671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500" b="0">
                <a:solidFill>
                  <a:srgbClr val="F7F4E9"/>
                </a:solidFill>
                <a:latin typeface="Arial"/>
              </a:rPr>
              <a:t>Shipped worldwide in 2025, up 24%.</a:t>
            </a:r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8007095" y="3246120"/>
            <a:ext cx="3404616" cy="2103120"/>
          </a:xfrm>
          <a:prstGeom prst="roundRect">
            <a:avLst/>
          </a:prstGeom>
          <a:solidFill>
            <a:srgbClr val="24463D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8217408" y="3410712"/>
            <a:ext cx="2983992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100" b="1">
                <a:solidFill>
                  <a:srgbClr val="C7E77B"/>
                </a:solidFill>
                <a:latin typeface="Arial"/>
              </a:rPr>
              <a:t>HUMAN FRAME</a:t>
            </a:r>
            <a:endParaRPr lang="en-US"/>
          </a:p>
        </p:txBody>
      </p:sp>
      <p:sp>
        <p:nvSpPr>
          <p:cNvPr id="19" name="Text 19"/>
          <p:cNvSpPr txBox="1"/>
          <p:nvPr/>
        </p:nvSpPr>
        <p:spPr>
          <a:xfrm>
            <a:off x="8217408" y="3721608"/>
            <a:ext cx="2983992" cy="6035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2200" b="1">
                <a:solidFill>
                  <a:srgbClr val="F7F4E9"/>
                </a:solidFill>
                <a:latin typeface="Arial"/>
              </a:rPr>
              <a:t>2 paths</a:t>
            </a:r>
            <a:endParaRPr lang="en-US"/>
          </a:p>
        </p:txBody>
      </p:sp>
      <p:sp>
        <p:nvSpPr>
          <p:cNvPr id="20" name="Text 20"/>
          <p:cNvSpPr txBox="1"/>
          <p:nvPr/>
        </p:nvSpPr>
        <p:spPr>
          <a:xfrm>
            <a:off x="8217408" y="4389120"/>
            <a:ext cx="2983992" cy="804671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500" b="0">
                <a:solidFill>
                  <a:srgbClr val="F7F4E9"/>
                </a:solidFill>
                <a:latin typeface="Arial"/>
              </a:rPr>
              <a:t>Companions for consumers and a platform for developers.</a:t>
            </a:r>
            <a:endParaRPr lang="en-US"/>
          </a:p>
        </p:txBody>
      </p:sp>
      <p:sp>
        <p:nvSpPr>
          <p:cNvPr id="21" name="Text 21"/>
          <p:cNvSpPr txBox="1"/>
          <p:nvPr/>
        </p:nvSpPr>
        <p:spPr>
          <a:xfrm>
            <a:off x="777240" y="5513832"/>
            <a:ext cx="1060704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100" b="0">
                <a:solidFill>
                  <a:srgbClr val="BBD1C6"/>
                </a:solidFill>
                <a:latin typeface="Arial"/>
              </a:rPr>
              <a:t>These figures show service robot adoption, not the companion robot or HCI software market. Source: International Federation of Robotics, World Robotics 2026 Service Robots.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8EFDF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777240" y="3200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100" b="1">
                <a:solidFill>
                  <a:srgbClr val="102C27"/>
                </a:solidFill>
                <a:latin typeface="Arial"/>
              </a:rPr>
              <a:t>HUMAN FRAME ROBOTICS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9235440" y="32004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/>
            <a:r>
              <a:rPr lang="en-US" sz="1100" b="1">
                <a:solidFill>
                  <a:srgbClr val="102C27"/>
                </a:solidFill>
                <a:latin typeface="Arial"/>
              </a:rPr>
              <a:t>PRODUCT</a:t>
            </a:r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777240" y="6455664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000" b="0">
                <a:solidFill>
                  <a:srgbClr val="526E63"/>
                </a:solidFill>
                <a:latin typeface="Arial"/>
              </a:rPr>
              <a:t>Human Frame Robotics</a:t>
            </a:r>
            <a:endParaRPr lang="en-US"/>
          </a:p>
        </p:txBody>
      </p:sp>
      <p:sp>
        <p:nvSpPr>
          <p:cNvPr id="6" name="Text 6"/>
          <p:cNvSpPr txBox="1"/>
          <p:nvPr/>
        </p:nvSpPr>
        <p:spPr>
          <a:xfrm>
            <a:off x="10607040" y="6455664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000" b="1">
                <a:solidFill>
                  <a:srgbClr val="526E63"/>
                </a:solidFill>
                <a:latin typeface="Arial"/>
              </a:rPr>
              <a:t>05 / 09</a:t>
            </a:r>
            <a:endParaRPr lang="en-US"/>
          </a:p>
        </p:txBody>
      </p:sp>
      <p:sp>
        <p:nvSpPr>
          <p:cNvPr id="7" name="Text 7"/>
          <p:cNvSpPr txBox="1"/>
          <p:nvPr/>
        </p:nvSpPr>
        <p:spPr>
          <a:xfrm>
            <a:off x="777240" y="1078992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300" b="1">
                <a:solidFill>
                  <a:srgbClr val="174C3D"/>
                </a:solidFill>
                <a:latin typeface="Arial"/>
              </a:rPr>
              <a:t>ONE PLATFORM, TWO EXPERIENCES</a:t>
            </a:r>
            <a:endParaRPr lang="en-US"/>
          </a:p>
        </p:txBody>
      </p:sp>
      <p:sp>
        <p:nvSpPr>
          <p:cNvPr id="8" name="Text 8"/>
          <p:cNvSpPr txBox="1"/>
          <p:nvPr/>
        </p:nvSpPr>
        <p:spPr>
          <a:xfrm>
            <a:off x="777240" y="1463039"/>
            <a:ext cx="1065276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4600" b="1">
                <a:solidFill>
                  <a:srgbClr val="102C27"/>
                </a:solidFill>
                <a:latin typeface="Arial"/>
              </a:rPr>
              <a:t>Build once.</a:t>
            </a:r>
            <a:endParaRPr lang="en-US"/>
          </a:p>
          <a:p>
            <a:pPr algn="l"/>
            <a:r>
              <a:rPr lang="en-US" sz="4600" b="1">
                <a:solidFill>
                  <a:srgbClr val="102C27"/>
                </a:solidFill>
                <a:latin typeface="Arial"/>
              </a:rPr>
              <a:t>Make it personal.</a:t>
            </a:r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777240" y="3383280"/>
            <a:ext cx="521208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987552" y="3547872"/>
            <a:ext cx="479145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100" b="1">
                <a:solidFill>
                  <a:srgbClr val="174C3D"/>
                </a:solidFill>
                <a:latin typeface="Arial"/>
              </a:rPr>
              <a:t>FOR DEVELOPERS</a:t>
            </a:r>
            <a:endParaRPr lang="en-US"/>
          </a:p>
        </p:txBody>
      </p:sp>
      <p:sp>
        <p:nvSpPr>
          <p:cNvPr id="11" name="Text 11"/>
          <p:cNvSpPr txBox="1"/>
          <p:nvPr/>
        </p:nvSpPr>
        <p:spPr>
          <a:xfrm>
            <a:off x="987552" y="3858768"/>
            <a:ext cx="4791456" cy="6035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2200" b="1">
                <a:solidFill>
                  <a:srgbClr val="102C27"/>
                </a:solidFill>
                <a:latin typeface="Arial"/>
              </a:rPr>
              <a:t>Reusable HCI tools</a:t>
            </a:r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987552" y="4526280"/>
            <a:ext cx="4791456" cy="1033271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500" b="0">
                <a:solidFill>
                  <a:srgbClr val="102C27"/>
                </a:solidFill>
                <a:latin typeface="Arial"/>
              </a:rPr>
              <a:t>Voice, expressive behavior, interaction state, and hardware interfaces in one adaptable foundation.</a:t>
            </a:r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6199632" y="3383280"/>
            <a:ext cx="521208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6409944" y="3547872"/>
            <a:ext cx="479145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100" b="1">
                <a:solidFill>
                  <a:srgbClr val="174C3D"/>
                </a:solidFill>
                <a:latin typeface="Arial"/>
              </a:rPr>
              <a:t>FOR CONSUMERS</a:t>
            </a:r>
            <a:endParaRPr lang="en-US"/>
          </a:p>
        </p:txBody>
      </p:sp>
      <p:sp>
        <p:nvSpPr>
          <p:cNvPr id="15" name="Text 15"/>
          <p:cNvSpPr txBox="1"/>
          <p:nvPr/>
        </p:nvSpPr>
        <p:spPr>
          <a:xfrm>
            <a:off x="6409944" y="3858768"/>
            <a:ext cx="4791456" cy="6035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2200" b="1">
                <a:solidFill>
                  <a:srgbClr val="102C27"/>
                </a:solidFill>
                <a:latin typeface="Arial"/>
              </a:rPr>
              <a:t>FRED, our first companion</a:t>
            </a:r>
            <a:endParaRPr lang="en-US"/>
          </a:p>
        </p:txBody>
      </p:sp>
      <p:sp>
        <p:nvSpPr>
          <p:cNvPr id="16" name="Text 16"/>
          <p:cNvSpPr txBox="1"/>
          <p:nvPr/>
        </p:nvSpPr>
        <p:spPr>
          <a:xfrm>
            <a:off x="6409944" y="4526280"/>
            <a:ext cx="4791456" cy="1033271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500" b="0">
                <a:solidFill>
                  <a:srgbClr val="102C27"/>
                </a:solidFill>
                <a:latin typeface="Arial"/>
              </a:rPr>
              <a:t>A friendly robot experience for conversation, reminders, and personalized interactions.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9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777240" y="3200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100" b="1">
                <a:solidFill>
                  <a:srgbClr val="102C27"/>
                </a:solidFill>
                <a:latin typeface="Arial"/>
              </a:rPr>
              <a:t>HUMAN FRAME ROBOTICS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9235440" y="32004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/>
            <a:r>
              <a:rPr lang="en-US" sz="1100" b="1">
                <a:solidFill>
                  <a:srgbClr val="102C27"/>
                </a:solidFill>
                <a:latin typeface="Arial"/>
              </a:rPr>
              <a:t>BUSINESS MODEL</a:t>
            </a:r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777240" y="6455664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000" b="0">
                <a:solidFill>
                  <a:srgbClr val="526E63"/>
                </a:solidFill>
                <a:latin typeface="Arial"/>
              </a:rPr>
              <a:t>Human Frame Robotics</a:t>
            </a:r>
            <a:endParaRPr lang="en-US"/>
          </a:p>
        </p:txBody>
      </p:sp>
      <p:sp>
        <p:nvSpPr>
          <p:cNvPr id="6" name="Text 6"/>
          <p:cNvSpPr txBox="1"/>
          <p:nvPr/>
        </p:nvSpPr>
        <p:spPr>
          <a:xfrm>
            <a:off x="10607040" y="6455664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000" b="1">
                <a:solidFill>
                  <a:srgbClr val="526E63"/>
                </a:solidFill>
                <a:latin typeface="Arial"/>
              </a:rPr>
              <a:t>06 / 09</a:t>
            </a:r>
            <a:endParaRPr lang="en-US"/>
          </a:p>
        </p:txBody>
      </p:sp>
      <p:sp>
        <p:nvSpPr>
          <p:cNvPr id="7" name="Text 7"/>
          <p:cNvSpPr txBox="1"/>
          <p:nvPr/>
        </p:nvSpPr>
        <p:spPr>
          <a:xfrm>
            <a:off x="777240" y="1078992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300" b="1">
                <a:solidFill>
                  <a:srgbClr val="174C3D"/>
                </a:solidFill>
                <a:latin typeface="Arial"/>
              </a:rPr>
              <a:t>PROPOSED ROUTE TO MARKET</a:t>
            </a:r>
            <a:endParaRPr lang="en-US"/>
          </a:p>
        </p:txBody>
      </p:sp>
      <p:sp>
        <p:nvSpPr>
          <p:cNvPr id="8" name="Text 8"/>
          <p:cNvSpPr txBox="1"/>
          <p:nvPr/>
        </p:nvSpPr>
        <p:spPr>
          <a:xfrm>
            <a:off x="777240" y="1463039"/>
            <a:ext cx="1065276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4400" b="1">
                <a:solidFill>
                  <a:srgbClr val="102C27"/>
                </a:solidFill>
                <a:latin typeface="Arial"/>
              </a:rPr>
              <a:t>Companion hardware.</a:t>
            </a:r>
            <a:endParaRPr lang="en-US"/>
          </a:p>
          <a:p>
            <a:pPr algn="l"/>
            <a:r>
              <a:rPr lang="en-US" sz="4400" b="1">
                <a:solidFill>
                  <a:srgbClr val="102C27"/>
                </a:solidFill>
                <a:latin typeface="Arial"/>
              </a:rPr>
              <a:t>Developer platform.</a:t>
            </a:r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777240" y="3310128"/>
            <a:ext cx="3404616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987552" y="3474720"/>
            <a:ext cx="2983992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100" b="1">
                <a:solidFill>
                  <a:srgbClr val="174C3D"/>
                </a:solidFill>
                <a:latin typeface="Arial"/>
              </a:rPr>
              <a:t>01 · VALIDATE</a:t>
            </a:r>
            <a:endParaRPr lang="en-US"/>
          </a:p>
        </p:txBody>
      </p:sp>
      <p:sp>
        <p:nvSpPr>
          <p:cNvPr id="11" name="Text 11"/>
          <p:cNvSpPr txBox="1"/>
          <p:nvPr/>
        </p:nvSpPr>
        <p:spPr>
          <a:xfrm>
            <a:off x="987552" y="3785616"/>
            <a:ext cx="2983992" cy="6035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2200" b="1">
                <a:solidFill>
                  <a:srgbClr val="102C27"/>
                </a:solidFill>
                <a:latin typeface="Arial"/>
              </a:rPr>
              <a:t>Consumer + developer pilots</a:t>
            </a:r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987552" y="4453128"/>
            <a:ext cx="2983992" cy="89611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500" b="0">
                <a:solidFill>
                  <a:srgbClr val="102C27"/>
                </a:solidFill>
                <a:latin typeface="Arial"/>
              </a:rPr>
              <a:t>Test usefulness, affordability, and setup with both groups.</a:t>
            </a:r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4392167" y="3310128"/>
            <a:ext cx="3404616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4602480" y="3474720"/>
            <a:ext cx="2983992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100" b="1">
                <a:solidFill>
                  <a:srgbClr val="174C3D"/>
                </a:solidFill>
                <a:latin typeface="Arial"/>
              </a:rPr>
              <a:t>02 · CONSUMER</a:t>
            </a:r>
            <a:endParaRPr lang="en-US"/>
          </a:p>
        </p:txBody>
      </p:sp>
      <p:sp>
        <p:nvSpPr>
          <p:cNvPr id="15" name="Text 15"/>
          <p:cNvSpPr txBox="1"/>
          <p:nvPr/>
        </p:nvSpPr>
        <p:spPr>
          <a:xfrm>
            <a:off x="4602480" y="3785616"/>
            <a:ext cx="2983992" cy="6035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2200" b="1">
                <a:solidFill>
                  <a:srgbClr val="102C27"/>
                </a:solidFill>
                <a:latin typeface="Arial"/>
              </a:rPr>
              <a:t>Robot + optional service</a:t>
            </a:r>
            <a:endParaRPr lang="en-US"/>
          </a:p>
        </p:txBody>
      </p:sp>
      <p:sp>
        <p:nvSpPr>
          <p:cNvPr id="16" name="Text 16"/>
          <p:cNvSpPr txBox="1"/>
          <p:nvPr/>
        </p:nvSpPr>
        <p:spPr>
          <a:xfrm>
            <a:off x="4602480" y="4453128"/>
            <a:ext cx="2983992" cy="89611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500" b="0">
                <a:solidFill>
                  <a:srgbClr val="102C27"/>
                </a:solidFill>
                <a:latin typeface="Arial"/>
              </a:rPr>
              <a:t>Sell an accessible companion with optional software and support.</a:t>
            </a:r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8007095" y="3310128"/>
            <a:ext cx="3404616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8217408" y="3474720"/>
            <a:ext cx="2983992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100" b="1">
                <a:solidFill>
                  <a:srgbClr val="174C3D"/>
                </a:solidFill>
                <a:latin typeface="Arial"/>
              </a:rPr>
              <a:t>03 · DEVELOPER</a:t>
            </a:r>
            <a:endParaRPr lang="en-US"/>
          </a:p>
        </p:txBody>
      </p:sp>
      <p:sp>
        <p:nvSpPr>
          <p:cNvPr id="19" name="Text 19"/>
          <p:cNvSpPr txBox="1"/>
          <p:nvPr/>
        </p:nvSpPr>
        <p:spPr>
          <a:xfrm>
            <a:off x="8217408" y="3785616"/>
            <a:ext cx="2983992" cy="6035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2200" b="1">
                <a:solidFill>
                  <a:srgbClr val="102C27"/>
                </a:solidFill>
                <a:latin typeface="Arial"/>
              </a:rPr>
              <a:t>Framework access</a:t>
            </a:r>
            <a:endParaRPr lang="en-US"/>
          </a:p>
        </p:txBody>
      </p:sp>
      <p:sp>
        <p:nvSpPr>
          <p:cNvPr id="20" name="Text 20"/>
          <p:cNvSpPr txBox="1"/>
          <p:nvPr/>
        </p:nvSpPr>
        <p:spPr>
          <a:xfrm>
            <a:off x="8217408" y="4453128"/>
            <a:ext cx="2983992" cy="89611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500" b="0">
                <a:solidFill>
                  <a:srgbClr val="102C27"/>
                </a:solidFill>
                <a:latin typeface="Arial"/>
              </a:rPr>
              <a:t>Offer tools, reference designs, and commercial licensing.</a:t>
            </a:r>
            <a:endParaRPr lang="en-US"/>
          </a:p>
        </p:txBody>
      </p:sp>
      <p:sp>
        <p:nvSpPr>
          <p:cNvPr id="21" name="Text 21"/>
          <p:cNvSpPr txBox="1"/>
          <p:nvPr/>
        </p:nvSpPr>
        <p:spPr>
          <a:xfrm>
            <a:off x="777240" y="5779008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b="0">
                <a:solidFill>
                  <a:srgbClr val="526E63"/>
                </a:solidFill>
                <a:latin typeface="Arial"/>
              </a:rPr>
              <a:t>Model hypothesis. No pricing, revenue, or distribution agreements are claimed.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C27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777240" y="3200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100" b="1">
                <a:solidFill>
                  <a:srgbClr val="F7F4E9"/>
                </a:solidFill>
                <a:latin typeface="Arial"/>
              </a:rPr>
              <a:t>HUMAN FRAME ROBOTICS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9235440" y="32004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/>
            <a:r>
              <a:rPr lang="en-US" sz="1100" b="1">
                <a:solidFill>
                  <a:srgbClr val="F7F4E9"/>
                </a:solidFill>
                <a:latin typeface="Arial"/>
              </a:rPr>
              <a:t>TRACTION</a:t>
            </a:r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777240" y="6455664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000" b="0">
                <a:solidFill>
                  <a:srgbClr val="BBD1C6"/>
                </a:solidFill>
                <a:latin typeface="Arial"/>
              </a:rPr>
              <a:t>Human Frame Robotics</a:t>
            </a:r>
            <a:endParaRPr lang="en-US"/>
          </a:p>
        </p:txBody>
      </p:sp>
      <p:sp>
        <p:nvSpPr>
          <p:cNvPr id="6" name="Text 6"/>
          <p:cNvSpPr txBox="1"/>
          <p:nvPr/>
        </p:nvSpPr>
        <p:spPr>
          <a:xfrm>
            <a:off x="10607040" y="6455664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000" b="1">
                <a:solidFill>
                  <a:srgbClr val="BBD1C6"/>
                </a:solidFill>
                <a:latin typeface="Arial"/>
              </a:rPr>
              <a:t>07 / 09</a:t>
            </a:r>
            <a:endParaRPr lang="en-US"/>
          </a:p>
        </p:txBody>
      </p:sp>
      <p:sp>
        <p:nvSpPr>
          <p:cNvPr id="7" name="Text 7"/>
          <p:cNvSpPr txBox="1"/>
          <p:nvPr/>
        </p:nvSpPr>
        <p:spPr>
          <a:xfrm>
            <a:off x="777240" y="1078992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300" b="1">
                <a:solidFill>
                  <a:srgbClr val="C7E77B"/>
                </a:solidFill>
                <a:latin typeface="Arial"/>
              </a:rPr>
              <a:t>BUILT TODAY</a:t>
            </a:r>
            <a:endParaRPr lang="en-US"/>
          </a:p>
        </p:txBody>
      </p:sp>
      <p:sp>
        <p:nvSpPr>
          <p:cNvPr id="8" name="Text 8"/>
          <p:cNvSpPr txBox="1"/>
          <p:nvPr/>
        </p:nvSpPr>
        <p:spPr>
          <a:xfrm>
            <a:off x="777240" y="1463039"/>
            <a:ext cx="1065276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4300" b="1">
                <a:solidFill>
                  <a:srgbClr val="F7F4E9"/>
                </a:solidFill>
                <a:latin typeface="Arial"/>
              </a:rPr>
              <a:t>From vision to working prototype.</a:t>
            </a:r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777240" y="3081528"/>
            <a:ext cx="3404616" cy="2377440"/>
          </a:xfrm>
          <a:prstGeom prst="roundRect">
            <a:avLst/>
          </a:prstGeom>
          <a:solidFill>
            <a:srgbClr val="24463D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987552" y="3246120"/>
            <a:ext cx="2983992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100" b="1">
                <a:solidFill>
                  <a:srgbClr val="C7E77B"/>
                </a:solidFill>
                <a:latin typeface="Arial"/>
              </a:rPr>
              <a:t>INTERACTION SOFTWARE</a:t>
            </a:r>
            <a:endParaRPr lang="en-US"/>
          </a:p>
        </p:txBody>
      </p:sp>
      <p:sp>
        <p:nvSpPr>
          <p:cNvPr id="11" name="Text 11"/>
          <p:cNvSpPr txBox="1"/>
          <p:nvPr/>
        </p:nvSpPr>
        <p:spPr>
          <a:xfrm>
            <a:off x="987552" y="3557016"/>
            <a:ext cx="2983992" cy="6035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2200" b="1">
                <a:solidFill>
                  <a:srgbClr val="F7F4E9"/>
                </a:solidFill>
                <a:latin typeface="Arial"/>
              </a:rPr>
              <a:t>FRED runs locally</a:t>
            </a:r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987552" y="4224528"/>
            <a:ext cx="2983992" cy="10789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500" b="0">
                <a:solidFill>
                  <a:srgbClr val="F7F4E9"/>
                </a:solidFill>
                <a:latin typeface="Arial"/>
              </a:rPr>
              <a:t>Conversation, reminders, personalization, and an expressive face demonstrate core flows.</a:t>
            </a:r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4392167" y="3081528"/>
            <a:ext cx="3404616" cy="2377440"/>
          </a:xfrm>
          <a:prstGeom prst="roundRect">
            <a:avLst/>
          </a:prstGeom>
          <a:solidFill>
            <a:srgbClr val="24463D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4602480" y="3246120"/>
            <a:ext cx="2983992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100" b="1">
                <a:solidFill>
                  <a:srgbClr val="C7E77B"/>
                </a:solidFill>
                <a:latin typeface="Arial"/>
              </a:rPr>
              <a:t>HARDWARE PATH</a:t>
            </a:r>
            <a:endParaRPr lang="en-US"/>
          </a:p>
        </p:txBody>
      </p:sp>
      <p:sp>
        <p:nvSpPr>
          <p:cNvPr id="15" name="Text 15"/>
          <p:cNvSpPr txBox="1"/>
          <p:nvPr/>
        </p:nvSpPr>
        <p:spPr>
          <a:xfrm>
            <a:off x="4602480" y="3557016"/>
            <a:ext cx="2983992" cy="6035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2200" b="1">
                <a:solidFill>
                  <a:srgbClr val="F7F4E9"/>
                </a:solidFill>
                <a:latin typeface="Arial"/>
              </a:rPr>
              <a:t>Dual-screen design</a:t>
            </a:r>
            <a:endParaRPr lang="en-US"/>
          </a:p>
        </p:txBody>
      </p:sp>
      <p:sp>
        <p:nvSpPr>
          <p:cNvPr id="16" name="Text 16"/>
          <p:cNvSpPr txBox="1"/>
          <p:nvPr/>
        </p:nvSpPr>
        <p:spPr>
          <a:xfrm>
            <a:off x="4602480" y="4224528"/>
            <a:ext cx="2983992" cy="10789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500" b="0">
                <a:solidFill>
                  <a:srgbClr val="F7F4E9"/>
                </a:solidFill>
                <a:latin typeface="Arial"/>
              </a:rPr>
              <a:t>Separate head and body displays, expression state, camera tracking, and Raspberry Pi integration path.</a:t>
            </a:r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8007095" y="3081528"/>
            <a:ext cx="3404616" cy="2377440"/>
          </a:xfrm>
          <a:prstGeom prst="roundRect">
            <a:avLst/>
          </a:prstGeom>
          <a:solidFill>
            <a:srgbClr val="24463D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8217408" y="3246120"/>
            <a:ext cx="2983992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100" b="1">
                <a:solidFill>
                  <a:srgbClr val="C7E77B"/>
                </a:solidFill>
                <a:latin typeface="Arial"/>
              </a:rPr>
              <a:t>NEXT PROOF</a:t>
            </a:r>
            <a:endParaRPr lang="en-US"/>
          </a:p>
        </p:txBody>
      </p:sp>
      <p:sp>
        <p:nvSpPr>
          <p:cNvPr id="19" name="Text 19"/>
          <p:cNvSpPr txBox="1"/>
          <p:nvPr/>
        </p:nvSpPr>
        <p:spPr>
          <a:xfrm>
            <a:off x="8217408" y="3557016"/>
            <a:ext cx="2983992" cy="6035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2200" b="1">
                <a:solidFill>
                  <a:srgbClr val="F7F4E9"/>
                </a:solidFill>
                <a:latin typeface="Arial"/>
              </a:rPr>
              <a:t>Two-sided pilots</a:t>
            </a:r>
            <a:endParaRPr lang="en-US"/>
          </a:p>
        </p:txBody>
      </p:sp>
      <p:sp>
        <p:nvSpPr>
          <p:cNvPr id="20" name="Text 20"/>
          <p:cNvSpPr txBox="1"/>
          <p:nvPr/>
        </p:nvSpPr>
        <p:spPr>
          <a:xfrm>
            <a:off x="8217408" y="4224528"/>
            <a:ext cx="2983992" cy="10789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500" b="0">
                <a:solidFill>
                  <a:srgbClr val="F7F4E9"/>
                </a:solidFill>
                <a:latin typeface="Arial"/>
              </a:rPr>
              <a:t>Validate appeal, reliability, developer experience, and willingness to pay.</a:t>
            </a:r>
            <a:endParaRPr lang="en-US"/>
          </a:p>
        </p:txBody>
      </p:sp>
      <p:sp>
        <p:nvSpPr>
          <p:cNvPr id="21" name="Text 21"/>
          <p:cNvSpPr txBox="1"/>
          <p:nvPr/>
        </p:nvSpPr>
        <p:spPr>
          <a:xfrm>
            <a:off x="777240" y="5824728"/>
            <a:ext cx="10424160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b="0">
                <a:solidFill>
                  <a:srgbClr val="BBD1C6"/>
                </a:solidFill>
                <a:latin typeface="Arial"/>
              </a:rPr>
              <a:t>No customer, revenue, or pilot traction is claimed.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4C3D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777240" y="3200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100" b="1">
                <a:solidFill>
                  <a:srgbClr val="F7F4E9"/>
                </a:solidFill>
                <a:latin typeface="Arial"/>
              </a:rPr>
              <a:t>HUMAN FRAME ROBOTICS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9235440" y="32004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/>
            <a:r>
              <a:rPr lang="en-US" sz="1100" b="1">
                <a:solidFill>
                  <a:srgbClr val="F7F4E9"/>
                </a:solidFill>
                <a:latin typeface="Arial"/>
              </a:rPr>
              <a:t>TEAM</a:t>
            </a:r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777240" y="6455664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000" b="0">
                <a:solidFill>
                  <a:srgbClr val="BBD1C6"/>
                </a:solidFill>
                <a:latin typeface="Arial"/>
              </a:rPr>
              <a:t>Human Frame Robotics</a:t>
            </a:r>
            <a:endParaRPr lang="en-US"/>
          </a:p>
        </p:txBody>
      </p:sp>
      <p:sp>
        <p:nvSpPr>
          <p:cNvPr id="6" name="Text 6"/>
          <p:cNvSpPr txBox="1"/>
          <p:nvPr/>
        </p:nvSpPr>
        <p:spPr>
          <a:xfrm>
            <a:off x="10607040" y="6455664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000" b="1">
                <a:solidFill>
                  <a:srgbClr val="BBD1C6"/>
                </a:solidFill>
                <a:latin typeface="Arial"/>
              </a:rPr>
              <a:t>08 / 09</a:t>
            </a:r>
            <a:endParaRPr lang="en-US"/>
          </a:p>
        </p:txBody>
      </p:sp>
      <p:sp>
        <p:nvSpPr>
          <p:cNvPr id="7" name="Text 7"/>
          <p:cNvSpPr txBox="1"/>
          <p:nvPr/>
        </p:nvSpPr>
        <p:spPr>
          <a:xfrm>
            <a:off x="777240" y="1078992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300" b="1">
                <a:solidFill>
                  <a:srgbClr val="C7E77B"/>
                </a:solidFill>
                <a:latin typeface="Arial"/>
              </a:rPr>
              <a:t>THE TEAM TO DELIVER THIS VISION</a:t>
            </a:r>
            <a:endParaRPr lang="en-US"/>
          </a:p>
        </p:txBody>
      </p:sp>
      <p:sp>
        <p:nvSpPr>
          <p:cNvPr id="8" name="Text 8"/>
          <p:cNvSpPr txBox="1"/>
          <p:nvPr/>
        </p:nvSpPr>
        <p:spPr>
          <a:xfrm>
            <a:off x="777240" y="1463039"/>
            <a:ext cx="1065276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4200" b="1">
                <a:solidFill>
                  <a:srgbClr val="F7F4E9"/>
                </a:solidFill>
                <a:latin typeface="Arial"/>
              </a:rPr>
              <a:t>Human-centered robotics</a:t>
            </a:r>
            <a:endParaRPr lang="en-US"/>
          </a:p>
          <a:p>
            <a:pPr algn="l"/>
            <a:r>
              <a:rPr lang="en-US" sz="4200" b="1">
                <a:solidFill>
                  <a:srgbClr val="F7F4E9"/>
                </a:solidFill>
                <a:latin typeface="Arial"/>
              </a:rPr>
              <a:t>takes more than hardware.</a:t>
            </a:r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777240" y="3346704"/>
            <a:ext cx="3404616" cy="2240280"/>
          </a:xfrm>
          <a:prstGeom prst="roundRect">
            <a:avLst/>
          </a:prstGeom>
          <a:solidFill>
            <a:srgbClr val="24463D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987552" y="3511296"/>
            <a:ext cx="2983992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100" b="1">
                <a:solidFill>
                  <a:srgbClr val="C7E77B"/>
                </a:solidFill>
                <a:latin typeface="Arial"/>
              </a:rPr>
              <a:t>FOUNDING TEAM</a:t>
            </a:r>
            <a:endParaRPr lang="en-US"/>
          </a:p>
        </p:txBody>
      </p:sp>
      <p:sp>
        <p:nvSpPr>
          <p:cNvPr id="11" name="Text 11"/>
          <p:cNvSpPr txBox="1"/>
          <p:nvPr/>
        </p:nvSpPr>
        <p:spPr>
          <a:xfrm>
            <a:off x="987552" y="3822191"/>
            <a:ext cx="2983992" cy="6035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2200" b="1">
                <a:solidFill>
                  <a:srgbClr val="F7F4E9"/>
                </a:solidFill>
                <a:latin typeface="Arial"/>
              </a:rPr>
              <a:t>Add names + roles</a:t>
            </a:r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987552" y="4489704"/>
            <a:ext cx="2983992" cy="9418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500" b="0">
                <a:solidFill>
                  <a:srgbClr val="F7F4E9"/>
                </a:solidFill>
                <a:latin typeface="Arial"/>
              </a:rPr>
              <a:t>Founders, engineering leads, and relevant experience.</a:t>
            </a:r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4392167" y="3346704"/>
            <a:ext cx="3404616" cy="2240280"/>
          </a:xfrm>
          <a:prstGeom prst="roundRect">
            <a:avLst/>
          </a:prstGeom>
          <a:solidFill>
            <a:srgbClr val="24463D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4602480" y="3511296"/>
            <a:ext cx="2983992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100" b="1">
                <a:solidFill>
                  <a:srgbClr val="C7E77B"/>
                </a:solidFill>
                <a:latin typeface="Arial"/>
              </a:rPr>
              <a:t>HCI EXPERTISE</a:t>
            </a:r>
            <a:endParaRPr lang="en-US"/>
          </a:p>
        </p:txBody>
      </p:sp>
      <p:sp>
        <p:nvSpPr>
          <p:cNvPr id="15" name="Text 15"/>
          <p:cNvSpPr txBox="1"/>
          <p:nvPr/>
        </p:nvSpPr>
        <p:spPr>
          <a:xfrm>
            <a:off x="4602480" y="3822191"/>
            <a:ext cx="2983992" cy="6035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2200" b="1">
                <a:solidFill>
                  <a:srgbClr val="F7F4E9"/>
                </a:solidFill>
                <a:latin typeface="Arial"/>
              </a:rPr>
              <a:t>Add advisors</a:t>
            </a:r>
            <a:endParaRPr lang="en-US"/>
          </a:p>
        </p:txBody>
      </p:sp>
      <p:sp>
        <p:nvSpPr>
          <p:cNvPr id="16" name="Text 16"/>
          <p:cNvSpPr txBox="1"/>
          <p:nvPr/>
        </p:nvSpPr>
        <p:spPr>
          <a:xfrm>
            <a:off x="4602480" y="4489704"/>
            <a:ext cx="2983992" cy="9418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500" b="0">
                <a:solidFill>
                  <a:srgbClr val="F7F4E9"/>
                </a:solidFill>
                <a:latin typeface="Arial"/>
              </a:rPr>
              <a:t>Interaction design, accessibility, robotics, and product experience.</a:t>
            </a:r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8007095" y="3346704"/>
            <a:ext cx="3404616" cy="2240280"/>
          </a:xfrm>
          <a:prstGeom prst="roundRect">
            <a:avLst/>
          </a:prstGeom>
          <a:solidFill>
            <a:srgbClr val="24463D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8217408" y="3511296"/>
            <a:ext cx="2983992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100" b="1">
                <a:solidFill>
                  <a:srgbClr val="C7E77B"/>
                </a:solidFill>
                <a:latin typeface="Arial"/>
              </a:rPr>
              <a:t>PILOT PARTNERS</a:t>
            </a:r>
            <a:endParaRPr lang="en-US"/>
          </a:p>
        </p:txBody>
      </p:sp>
      <p:sp>
        <p:nvSpPr>
          <p:cNvPr id="19" name="Text 19"/>
          <p:cNvSpPr txBox="1"/>
          <p:nvPr/>
        </p:nvSpPr>
        <p:spPr>
          <a:xfrm>
            <a:off x="8217408" y="3822191"/>
            <a:ext cx="2983992" cy="6035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2200" b="1">
                <a:solidFill>
                  <a:srgbClr val="F7F4E9"/>
                </a:solidFill>
                <a:latin typeface="Arial"/>
              </a:rPr>
              <a:t>Add organizations</a:t>
            </a:r>
            <a:endParaRPr lang="en-US"/>
          </a:p>
        </p:txBody>
      </p:sp>
      <p:sp>
        <p:nvSpPr>
          <p:cNvPr id="20" name="Text 20"/>
          <p:cNvSpPr txBox="1"/>
          <p:nvPr/>
        </p:nvSpPr>
        <p:spPr>
          <a:xfrm>
            <a:off x="8217408" y="4489704"/>
            <a:ext cx="2983992" cy="9418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500" b="0">
                <a:solidFill>
                  <a:srgbClr val="F7F4E9"/>
                </a:solidFill>
                <a:latin typeface="Arial"/>
              </a:rPr>
              <a:t>Consumer testers and developer teams building on the platform.</a:t>
            </a:r>
            <a:endParaRPr lang="en-US"/>
          </a:p>
        </p:txBody>
      </p:sp>
      <p:sp>
        <p:nvSpPr>
          <p:cNvPr id="21" name="Text 21"/>
          <p:cNvSpPr txBox="1"/>
          <p:nvPr/>
        </p:nvSpPr>
        <p:spPr>
          <a:xfrm>
            <a:off x="777240" y="5833872"/>
            <a:ext cx="10332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200" b="0">
                <a:solidFill>
                  <a:srgbClr val="BBD1C6"/>
                </a:solidFill>
                <a:latin typeface="Arial"/>
              </a:rPr>
              <a:t>Names and affiliations intentionally left for the founders to verify.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C27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777240" y="3200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100" b="1">
                <a:solidFill>
                  <a:srgbClr val="F7F4E9"/>
                </a:solidFill>
                <a:latin typeface="Arial"/>
              </a:rPr>
              <a:t>HUMAN FRAME ROBOTICS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9235440" y="32004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/>
            <a:r>
              <a:rPr lang="en-US" sz="1100" b="1">
                <a:solidFill>
                  <a:srgbClr val="F7F4E9"/>
                </a:solidFill>
                <a:latin typeface="Arial"/>
              </a:rPr>
              <a:t>THE ASK</a:t>
            </a:r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777240" y="6455664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000" b="0">
                <a:solidFill>
                  <a:srgbClr val="BBD1C6"/>
                </a:solidFill>
                <a:latin typeface="Arial"/>
              </a:rPr>
              <a:t>Human Frame Robotics</a:t>
            </a:r>
            <a:endParaRPr lang="en-US"/>
          </a:p>
        </p:txBody>
      </p:sp>
      <p:sp>
        <p:nvSpPr>
          <p:cNvPr id="6" name="Text 6"/>
          <p:cNvSpPr txBox="1"/>
          <p:nvPr/>
        </p:nvSpPr>
        <p:spPr>
          <a:xfrm>
            <a:off x="10607040" y="6455664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000" b="1">
                <a:solidFill>
                  <a:srgbClr val="BBD1C6"/>
                </a:solidFill>
                <a:latin typeface="Arial"/>
              </a:rPr>
              <a:t>09 / 09</a:t>
            </a:r>
            <a:endParaRPr lang="en-US"/>
          </a:p>
        </p:txBody>
      </p:sp>
      <p:sp>
        <p:nvSpPr>
          <p:cNvPr id="7" name="Text 7"/>
          <p:cNvSpPr txBox="1"/>
          <p:nvPr/>
        </p:nvSpPr>
        <p:spPr>
          <a:xfrm>
            <a:off x="777240" y="1078992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300" b="1">
                <a:solidFill>
                  <a:srgbClr val="C7E77B"/>
                </a:solidFill>
                <a:latin typeface="Arial"/>
              </a:rPr>
              <a:t>BUILD THE NEXT INTERACTION TOGETHER</a:t>
            </a:r>
            <a:endParaRPr lang="en-US"/>
          </a:p>
        </p:txBody>
      </p:sp>
      <p:sp>
        <p:nvSpPr>
          <p:cNvPr id="8" name="Text 8"/>
          <p:cNvSpPr txBox="1"/>
          <p:nvPr/>
        </p:nvSpPr>
        <p:spPr>
          <a:xfrm>
            <a:off x="777240" y="1463039"/>
            <a:ext cx="1065276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4200" b="1">
                <a:solidFill>
                  <a:srgbClr val="F7F4E9"/>
                </a:solidFill>
                <a:latin typeface="Arial"/>
              </a:rPr>
              <a:t>Help make human–robot</a:t>
            </a:r>
            <a:endParaRPr lang="en-US"/>
          </a:p>
          <a:p>
            <a:pPr algn="l"/>
            <a:r>
              <a:rPr lang="en-US" sz="4200" b="1">
                <a:solidFill>
                  <a:srgbClr val="F7F4E9"/>
                </a:solidFill>
                <a:latin typeface="Arial"/>
              </a:rPr>
              <a:t>interaction accessible.</a:t>
            </a:r>
            <a:endParaRPr lang="en-US"/>
          </a:p>
        </p:txBody>
      </p:sp>
      <p:sp>
        <p:nvSpPr>
          <p:cNvPr id="9" name="Text 9"/>
          <p:cNvSpPr txBox="1"/>
          <p:nvPr/>
        </p:nvSpPr>
        <p:spPr>
          <a:xfrm>
            <a:off x="777240" y="2898648"/>
            <a:ext cx="104241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2000" b="0">
                <a:solidFill>
                  <a:srgbClr val="F7F4E9"/>
                </a:solidFill>
                <a:latin typeface="Arial"/>
              </a:rPr>
              <a:t>We’re seeking people and partners to shape an affordable companion and an open path for HCI development.</a:t>
            </a:r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777240" y="3913632"/>
            <a:ext cx="3404616" cy="1938528"/>
          </a:xfrm>
          <a:prstGeom prst="roundRect">
            <a:avLst/>
          </a:prstGeom>
          <a:solidFill>
            <a:srgbClr val="24463D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987552" y="4078224"/>
            <a:ext cx="2983992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100" b="1">
                <a:solidFill>
                  <a:srgbClr val="C7E77B"/>
                </a:solidFill>
                <a:latin typeface="Arial"/>
              </a:rPr>
              <a:t>CONSUMERS</a:t>
            </a:r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987552" y="4389120"/>
            <a:ext cx="2983992" cy="6035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2200" b="1">
                <a:solidFill>
                  <a:srgbClr val="F7F4E9"/>
                </a:solidFill>
                <a:latin typeface="Arial"/>
              </a:rPr>
              <a:t>Test the companion</a:t>
            </a:r>
            <a:endParaRPr lang="en-US"/>
          </a:p>
        </p:txBody>
      </p:sp>
      <p:sp>
        <p:nvSpPr>
          <p:cNvPr id="13" name="Text 13"/>
          <p:cNvSpPr txBox="1"/>
          <p:nvPr/>
        </p:nvSpPr>
        <p:spPr>
          <a:xfrm>
            <a:off x="987552" y="5056632"/>
            <a:ext cx="2983992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500" b="0">
                <a:solidFill>
                  <a:srgbClr val="F7F4E9"/>
                </a:solidFill>
                <a:latin typeface="Arial"/>
              </a:rPr>
              <a:t>Tell us what feels useful, approachable, and worth bringing home.</a:t>
            </a:r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4392167" y="3913632"/>
            <a:ext cx="3404616" cy="1938528"/>
          </a:xfrm>
          <a:prstGeom prst="roundRect">
            <a:avLst/>
          </a:prstGeom>
          <a:solidFill>
            <a:srgbClr val="24463D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4602480" y="4078224"/>
            <a:ext cx="2983992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100" b="1">
                <a:solidFill>
                  <a:srgbClr val="C7E77B"/>
                </a:solidFill>
                <a:latin typeface="Arial"/>
              </a:rPr>
              <a:t>DEVELOPERS</a:t>
            </a:r>
            <a:endParaRPr lang="en-US"/>
          </a:p>
        </p:txBody>
      </p:sp>
      <p:sp>
        <p:nvSpPr>
          <p:cNvPr id="16" name="Text 16"/>
          <p:cNvSpPr txBox="1"/>
          <p:nvPr/>
        </p:nvSpPr>
        <p:spPr>
          <a:xfrm>
            <a:off x="4602480" y="4389120"/>
            <a:ext cx="2983992" cy="6035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2200" b="1">
                <a:solidFill>
                  <a:srgbClr val="F7F4E9"/>
                </a:solidFill>
                <a:latin typeface="Arial"/>
              </a:rPr>
              <a:t>Build on the framework</a:t>
            </a:r>
            <a:endParaRPr lang="en-US"/>
          </a:p>
        </p:txBody>
      </p:sp>
      <p:sp>
        <p:nvSpPr>
          <p:cNvPr id="17" name="Text 17"/>
          <p:cNvSpPr txBox="1"/>
          <p:nvPr/>
        </p:nvSpPr>
        <p:spPr>
          <a:xfrm>
            <a:off x="4602480" y="5056632"/>
            <a:ext cx="2983992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500" b="0">
                <a:solidFill>
                  <a:srgbClr val="F7F4E9"/>
                </a:solidFill>
                <a:latin typeface="Arial"/>
              </a:rPr>
              <a:t>Help define the tools and interfaces that make HCI software easier to create.</a:t>
            </a:r>
            <a:endParaRPr lang="en-US"/>
          </a:p>
        </p:txBody>
      </p:sp>
      <p:sp>
        <p:nvSpPr>
          <p:cNvPr id="18" name="Shape 18"/>
          <p:cNvSpPr/>
          <p:nvPr/>
        </p:nvSpPr>
        <p:spPr>
          <a:xfrm>
            <a:off x="8007095" y="3913632"/>
            <a:ext cx="3404616" cy="1938528"/>
          </a:xfrm>
          <a:prstGeom prst="roundRect">
            <a:avLst/>
          </a:prstGeom>
          <a:solidFill>
            <a:srgbClr val="24463D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8217408" y="4078224"/>
            <a:ext cx="2983992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100" b="1">
                <a:solidFill>
                  <a:srgbClr val="C7E77B"/>
                </a:solidFill>
                <a:latin typeface="Arial"/>
              </a:rPr>
              <a:t>PARTNERS</a:t>
            </a:r>
            <a:endParaRPr lang="en-US"/>
          </a:p>
        </p:txBody>
      </p:sp>
      <p:sp>
        <p:nvSpPr>
          <p:cNvPr id="20" name="Text 20"/>
          <p:cNvSpPr txBox="1"/>
          <p:nvPr/>
        </p:nvSpPr>
        <p:spPr>
          <a:xfrm>
            <a:off x="8217408" y="4389120"/>
            <a:ext cx="2983992" cy="6035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2200" b="1">
                <a:solidFill>
                  <a:srgbClr val="F7F4E9"/>
                </a:solidFill>
                <a:latin typeface="Arial"/>
              </a:rPr>
              <a:t>Pilot with us</a:t>
            </a:r>
            <a:endParaRPr lang="en-US"/>
          </a:p>
        </p:txBody>
      </p:sp>
      <p:sp>
        <p:nvSpPr>
          <p:cNvPr id="21" name="Text 21"/>
          <p:cNvSpPr txBox="1"/>
          <p:nvPr/>
        </p:nvSpPr>
        <p:spPr>
          <a:xfrm>
            <a:off x="8217408" y="5056632"/>
            <a:ext cx="2983992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/>
            <a:r>
              <a:rPr lang="en-US" sz="1500" b="0">
                <a:solidFill>
                  <a:srgbClr val="F7F4E9"/>
                </a:solidFill>
                <a:latin typeface="Arial"/>
              </a:rPr>
              <a:t>Validate real-world uses and the path to affordability.</a:t>
            </a:r>
            <a:endParaRPr lang="en-US"/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>
  <Application>Microsoft Office PowerPoint</Application>
  <Slides>9</Slides>
</Properties>
</file>

<file path=docProps/core.xml><?xml version="1.0" encoding="utf-8"?>
<cp:coreProperties xmlns:cp="http://schemas.openxmlformats.org/package/2006/metadata/core-properties" xmlns:dc="http://purl.org/dc/elements/1.1/">
  <dc:title>Human Frame Robotics Vision Deck</dc:title>
  <dc:creator>Human Frame Robotics</dc:creator>
</cp:coreProperties>
</file>